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0" y="1097280"/>
            <a:ext cx="9144000" cy="91440"/>
          </a:xfrm>
          <a:prstGeom prst="rect">
            <a:avLst/>
          </a:prstGeom>
          <a:solidFill>
            <a:srgbClr val="FF6F00"/>
          </a:solidFill>
          <a:ln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SMART INDIA HACKATHON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1645920"/>
            <a:ext cx="8229600" cy="4572000"/>
          </a:xfrm>
        </p:spPr>
        <p:txBody>
          <a:bodyPr/>
          <a:lstStyle/>
          <a:p>
            <a:pPr algn="ctr">
              <a:defRPr sz="1800">
                <a:solidFill>
                  <a:srgbClr val="3C3C3C"/>
                </a:solidFill>
              </a:defRPr>
            </a:pPr>
            <a:r>
              <a:t>Problem Statement ID: [Your PS ID]</a:t>
            </a:r>
          </a:p>
          <a:p>
            <a:pPr algn="ctr">
              <a:defRPr sz="1800">
                <a:solidFill>
                  <a:srgbClr val="3C3C3C"/>
                </a:solidFill>
              </a:defRPr>
            </a:pPr>
            <a:r>
              <a:t>Problem Statement Title: [Your PS Title]</a:t>
            </a:r>
          </a:p>
          <a:p>
            <a:pPr algn="ctr">
              <a:defRPr sz="1800">
                <a:solidFill>
                  <a:srgbClr val="3C3C3C"/>
                </a:solidFill>
              </a:defRPr>
            </a:pPr>
            <a:r>
              <a:t>Theme: MedTech / Healthcare</a:t>
            </a:r>
          </a:p>
          <a:p>
            <a:pPr algn="ctr">
              <a:defRPr sz="1800">
                <a:solidFill>
                  <a:srgbClr val="3C3C3C"/>
                </a:solidFill>
              </a:defRPr>
            </a:pPr>
            <a:r>
              <a:t>PS Category: Software</a:t>
            </a:r>
          </a:p>
          <a:p>
            <a:pPr algn="ctr">
              <a:defRPr sz="1800">
                <a:solidFill>
                  <a:srgbClr val="3C3C3C"/>
                </a:solidFill>
              </a:defRPr>
            </a:pPr>
            <a:r>
              <a:t>Team ID: [Your Team ID]</a:t>
            </a:r>
          </a:p>
          <a:p>
            <a:pPr algn="ctr">
              <a:defRPr sz="1800">
                <a:solidFill>
                  <a:srgbClr val="3C3C3C"/>
                </a:solidFill>
              </a:defRPr>
            </a:pPr>
            <a:r>
              <a:t>Team Name: [Your Team Name]</a:t>
            </a:r>
          </a:p>
          <a:p>
            <a:pPr algn="ctr">
              <a:defRPr sz="1800">
                <a:solidFill>
                  <a:srgbClr val="3C3C3C"/>
                </a:solidFill>
              </a:defRPr>
            </a:pPr>
            <a:r>
              <a:t>Team Leader Name: Priyanshu Shaurya (ENG25CS0665)</a:t>
            </a:r>
          </a:p>
          <a:p>
            <a:pPr algn="ctr">
              <a:defRPr sz="1800">
                <a:solidFill>
                  <a:srgbClr val="3C3C3C"/>
                </a:solidFill>
              </a:defRPr>
            </a:pPr>
            <a:r>
              <a:t>Team Members: Ankit Kumar (ENG25CS0396), Aditya Raj (ENG25AD0083)</a:t>
            </a:r>
          </a:p>
          <a:p>
            <a:pPr algn="ctr">
              <a:defRPr sz="1800">
                <a:solidFill>
                  <a:srgbClr val="3C3C3C"/>
                </a:solidFill>
              </a:defRPr>
            </a:pPr>
            <a:r>
              <a:t>School of Engineering, Dayananda Sagar University, Bengaluru - 562112.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0" y="1097280"/>
            <a:ext cx="9144000" cy="91440"/>
          </a:xfrm>
          <a:prstGeom prst="rect">
            <a:avLst/>
          </a:prstGeom>
          <a:solidFill>
            <a:srgbClr val="FF6F00"/>
          </a:solidFill>
          <a:ln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IDEA TITLE &amp; 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029200"/>
          </a:xfrm>
        </p:spPr>
        <p:txBody>
          <a:bodyPr wrap="square"/>
          <a:lstStyle/>
          <a:p>
            <a:pPr>
              <a:defRPr sz="1800" b="1">
                <a:solidFill>
                  <a:srgbClr val="00897B"/>
                </a:solidFill>
              </a:defRPr>
            </a:pPr>
            <a:r>
              <a:t>IDEA TITLE: HealthSync AI-Assisted Recovery Journey System</a:t>
            </a:r>
          </a:p>
          <a:p>
            <a:pPr>
              <a:defRPr sz="1800" b="1">
                <a:solidFill>
                  <a:srgbClr val="00897B"/>
                </a:solidFill>
              </a:defRPr>
            </a:pPr>
            <a:r>
              <a:t>Proposed Solution: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HealthSync is an integrated healthcare platform empowering patients and clinicians.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Problem Addressed: Medical reports are complex, finding specialists is hard, and medication non-adherence causes severe risks.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Solution: AI-powered assistant that scans reports, analyzes conditions, recommends specialists, manages online consultations, and tracks recovery.</a:t>
            </a:r>
          </a:p>
          <a:p>
            <a:pPr>
              <a:defRPr sz="1800" b="1">
                <a:solidFill>
                  <a:srgbClr val="00897B"/>
                </a:solidFill>
              </a:defRPr>
            </a:pPr>
            <a:r>
              <a:t>Innovation and Uniqueness: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3D Digital Twin: An interactive 3D body model for patients to visually map symptoms and localized pain.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Multi-lingual Voice Assistant: Hands-free voice interactions (English/Hindi) with Text-To-Speech for accessibility.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Jan Aushadhi Integration: Recommends affordable generic medicine alternatives.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0" y="1097280"/>
            <a:ext cx="9144000" cy="91440"/>
          </a:xfrm>
          <a:prstGeom prst="rect">
            <a:avLst/>
          </a:prstGeom>
          <a:solidFill>
            <a:srgbClr val="FF6F00"/>
          </a:solidFill>
          <a:ln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TECHNICAL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029200"/>
          </a:xfrm>
        </p:spPr>
        <p:txBody>
          <a:bodyPr wrap="square"/>
          <a:lstStyle/>
          <a:p>
            <a:pPr>
              <a:defRPr sz="1800" b="1">
                <a:solidFill>
                  <a:srgbClr val="00897B"/>
                </a:solidFill>
              </a:defRPr>
            </a:pPr>
            <a:r>
              <a:t>Technologies to be Used: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Frontend: Next.js 14, React, Three.js (3D Twin), Framer Motion, Tailwind CSS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AI Models: Groq API (LLaMA-3 70B for fast NLP), SambaNova API (Llama-3.2 90B Vision for OCR/Reports)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Voice/Accessibility: Web Speech API for real-time transcription and Text-to-Speech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Backend/Architecture: Modular, cloud-based API Routes, Privacy-first design</a:t>
            </a:r>
          </a:p>
          <a:p>
            <a:pPr>
              <a:defRPr sz="1800" b="1">
                <a:solidFill>
                  <a:srgbClr val="00897B"/>
                </a:solidFill>
              </a:defRPr>
            </a:pPr>
            <a:r>
              <a:t>Methodology and Implementation Process: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Patients interact via the 3D avatar to report symptoms, or use the voice assistant to speak naturally.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SambaNova Vision AI extracts data from uploaded medical reports and prescriptions.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Groq LLaMA analyzes the data, assesses urgency, and generates a personalized recovery/diet plan.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Integrated ASAP Emergency SOS (Ambulance booking, family notifications, nearest doctor alert).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0" y="1097280"/>
            <a:ext cx="9144000" cy="91440"/>
          </a:xfrm>
          <a:prstGeom prst="rect">
            <a:avLst/>
          </a:prstGeom>
          <a:solidFill>
            <a:srgbClr val="FF6F00"/>
          </a:solidFill>
          <a:ln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FEASIBILITY AND VIABILITY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029200"/>
          </a:xfrm>
        </p:spPr>
        <p:txBody>
          <a:bodyPr wrap="square"/>
          <a:lstStyle/>
          <a:p>
            <a:pPr>
              <a:defRPr sz="1800" b="1">
                <a:solidFill>
                  <a:srgbClr val="00897B"/>
                </a:solidFill>
              </a:defRPr>
            </a:pPr>
            <a:r>
              <a:t>Analysis of Feasibility: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MVP is highly feasible: Designed as a modular, cloud-based architecture optimized for real-world deployment.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Fast API inference via Groq &amp; SambaNova ensures real-time patient assistance without heavy local computation.</a:t>
            </a:r>
          </a:p>
          <a:p>
            <a:pPr>
              <a:defRPr sz="1800" b="1">
                <a:solidFill>
                  <a:srgbClr val="00897B"/>
                </a:solidFill>
              </a:defRPr>
            </a:pPr>
            <a:r>
              <a:t>Potential Challenges and Risks: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Accurate extraction of medical data from low-quality report images.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Preventing AI hallucinations or incorrect medical advice.</a:t>
            </a:r>
          </a:p>
          <a:p>
            <a:pPr>
              <a:defRPr sz="1800" b="1">
                <a:solidFill>
                  <a:srgbClr val="00897B"/>
                </a:solidFill>
              </a:defRPr>
            </a:pPr>
            <a:r>
              <a:t>Strategies for Overcoming Challenges: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Zero Diagnosis Policy: AI is restricted to 'assisting' and never diagnoses without a doctor’s validation.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Strict prompt engineering with ethical boundaries, DPDP Act 2023 &amp; ABHA compliance.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Explicit user consent before recording consultations.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0" y="1097280"/>
            <a:ext cx="9144000" cy="91440"/>
          </a:xfrm>
          <a:prstGeom prst="rect">
            <a:avLst/>
          </a:prstGeom>
          <a:solidFill>
            <a:srgbClr val="FF6F00"/>
          </a:solidFill>
          <a:ln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IMPLEMENTATION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029200"/>
          </a:xfrm>
        </p:spPr>
        <p:txBody>
          <a:bodyPr wrap="square"/>
          <a:lstStyle/>
          <a:p>
            <a:pPr>
              <a:defRPr sz="1800" b="1">
                <a:solidFill>
                  <a:srgbClr val="00897B"/>
                </a:solidFill>
              </a:defRPr>
            </a:pPr>
            <a:r>
              <a:t>Architecture &amp; Technology Stack Workflow: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Input Layer: User uploads report / interacts with 3D Twin / speaks to Voice Assistant.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Processing Layer:</a:t>
            </a:r>
          </a:p>
          <a:p>
            <a:pPr>
              <a:defRPr sz="1800" b="1">
                <a:solidFill>
                  <a:srgbClr val="00897B"/>
                </a:solidFill>
              </a:defRPr>
            </a:pPr>
            <a:r>
              <a:t>SambaNova Vision extracts OCR data &amp; flags abnormalities.</a:t>
            </a:r>
          </a:p>
          <a:p>
            <a:pPr>
              <a:defRPr sz="1800" b="1">
                <a:solidFill>
                  <a:srgbClr val="00897B"/>
                </a:solidFill>
              </a:defRPr>
            </a:pPr>
            <a:r>
              <a:t>Groq LLaMA processes NLP &amp; matches patient to a specialist.</a:t>
            </a:r>
          </a:p>
          <a:p>
            <a:pPr>
              <a:defRPr sz="1800" b="1">
                <a:solidFill>
                  <a:srgbClr val="00897B"/>
                </a:solidFill>
              </a:defRPr>
            </a:pPr>
            <a:r>
              <a:t>Doctor Dashboard validates AI suggestions and issues prescriptions.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Output Layer: Medication reminders, personalized diet &amp; exercise plans, automated recovery tracking.</a:t>
            </a:r>
          </a:p>
          <a:p>
            <a:pPr>
              <a:defRPr sz="1800" b="1">
                <a:solidFill>
                  <a:srgbClr val="00897B"/>
                </a:solidFill>
              </a:defRPr>
            </a:pPr>
            <a:r>
              <a:t>Highlighting Uniqueness: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Autonomous yet doctor-controlled healthcare.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Dynamic AI Health Risk Score and predictive recovery planning.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Seamlessly bridging the digital divide for patients who cannot type (Voice Mode).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0" y="1097280"/>
            <a:ext cx="9144000" cy="91440"/>
          </a:xfrm>
          <a:prstGeom prst="rect">
            <a:avLst/>
          </a:prstGeom>
          <a:solidFill>
            <a:srgbClr val="FF6F00"/>
          </a:solidFill>
          <a:ln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IMPACT AND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029200"/>
          </a:xfrm>
        </p:spPr>
        <p:txBody>
          <a:bodyPr wrap="square"/>
          <a:lstStyle/>
          <a:p>
            <a:pPr>
              <a:defRPr sz="1800" b="1">
                <a:solidFill>
                  <a:srgbClr val="00897B"/>
                </a:solidFill>
              </a:defRPr>
            </a:pPr>
            <a:r>
              <a:t>Potential Impact on the Target Audience: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Targets chronic patients, the elderly, and individuals seeking accessible, stress-free healthcare.</a:t>
            </a:r>
          </a:p>
          <a:p>
            <a:pPr>
              <a:defRPr sz="1800" b="1">
                <a:solidFill>
                  <a:srgbClr val="00897B"/>
                </a:solidFill>
              </a:defRPr>
            </a:pPr>
            <a:r>
              <a:t>Benefits of the Solution: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Social Impact: Improves medication adherence, reduces healthcare anxiety, and provides multilingual support.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Economic Impact: Lowers costs through Jan Aushadhi generic recommendations; reduces hospital readmissions.</a:t>
            </a:r>
          </a:p>
          <a:p>
            <a:pPr>
              <a:defRPr sz="1800" b="1">
                <a:solidFill>
                  <a:srgbClr val="00897B"/>
                </a:solidFill>
              </a:defRPr>
            </a:pPr>
            <a:r>
              <a:t>Future Scalability: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Wearable device integration (Smartwatches) for real-time vitals monitoring (Heart rate, Sleep, SpO2).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AI-based preventive healthcare generating a Daily Health Score to prevent diseases before they become serious.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