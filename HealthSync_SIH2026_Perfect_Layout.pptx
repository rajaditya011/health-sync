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14400"/>
            <a:ext cx="11002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97B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100297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A192F"/>
                </a:solidFill>
                <a:latin typeface="Arial"/>
              </a:defRPr>
            </a:pPr>
            <a:r>
              <a:t>HEALTHSYNC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1002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23232"/>
                </a:solidFill>
                <a:latin typeface="Arial"/>
              </a:defRPr>
            </a:pPr>
            <a:r>
              <a:t>AI-Powered Patient Case-Taking &amp; Intelligent Healthcare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474720"/>
            <a:ext cx="5272887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  <a:latin typeface="Arial"/>
              </a:defRPr>
            </a:pPr>
            <a:r>
              <a:t>PROJECT DETAILS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Problem Statement ID: SIH26047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Patient Case-Taking Software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Theme: HEALTH TECH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Category: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3474720"/>
            <a:ext cx="5272887" cy="228600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0897B"/>
                </a:solidFill>
                <a:latin typeface="Arial"/>
              </a:defRPr>
            </a:pPr>
            <a:r>
              <a:t>TEAM: AFTER HOURS (SIH2026-184)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Team Leader: Harsha Kolli (ENG25AM0171)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Members: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Sushanth Hegde (ENG25AD0070)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Ashish P (ENG25AM0143)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Harsh Kubade (ENG25AM0148)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Aditya Raj (ENG25AD0083)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Priyanshu Chauhan (ENG25CS0663)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  <a:latin typeface="Arial"/>
              </a:defRPr>
            </a:pPr>
            <a:r>
              <a:t>School of Engineering, Dayananda Sagar University, Bengaluru - 562112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200" b="1">
                <a:solidFill>
                  <a:srgbClr val="0A192F"/>
                </a:solidFill>
                <a:latin typeface="Arial"/>
              </a:defRPr>
            </a:pPr>
            <a:r>
              <a:t>HEALTHSYNC AI — FROM COMPLEX DATA TO ACTIONABLE 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1288"/>
            <a:ext cx="907542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4847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32F2F"/>
                </a:solidFill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484778" cy="100584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  <a:latin typeface="Arial"/>
              </a:defRPr>
            </a:pPr>
            <a:r>
              <a:t>01 COMPLEX REPORTS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Patients struggle to understand medical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63240"/>
            <a:ext cx="3484778" cy="100584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  <a:latin typeface="Arial"/>
              </a:defRPr>
            </a:pPr>
            <a:r>
              <a:t>02 RIGHT SPECIALIST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Patients may not know which specialist is appropriate.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206240"/>
            <a:ext cx="3484778" cy="100584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  <a:latin typeface="Arial"/>
              </a:defRPr>
            </a:pPr>
            <a:r>
              <a:t>03 MEDICATION ADHERENCE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Patients forget or fail to follow medication routines.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349240"/>
            <a:ext cx="3484778" cy="100584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  <a:latin typeface="Arial"/>
              </a:defRPr>
            </a:pPr>
            <a:r>
              <a:t>04 ACCESSIBILITY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Language and digital barriers make healthcare interaction harder.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1463040"/>
            <a:ext cx="34847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0A192F"/>
                </a:solidFill>
              </a:defRPr>
            </a:pPr>
            <a:r>
              <a:t>HEALTHSYNC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9218" y="2194560"/>
            <a:ext cx="275325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323232"/>
                </a:solidFill>
                <a:latin typeface="Arial"/>
              </a:defRPr>
            </a:pPr>
            <a:r>
              <a:t>Patient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04407" y="3017520"/>
            <a:ext cx="182880" cy="27432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3458" y="3383280"/>
            <a:ext cx="3484778" cy="16459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HealthSync AI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Report Intelligence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3D Digital Twin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Voice AI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Specialist Matching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Recovery Tracking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5120640"/>
            <a:ext cx="182880" cy="27432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19218" y="5486400"/>
            <a:ext cx="275325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323232"/>
                </a:solidFill>
                <a:latin typeface="Arial"/>
              </a:defRPr>
            </a:pPr>
            <a:r>
              <a:t>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556" y="1463040"/>
            <a:ext cx="34847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600">
                <a:solidFill>
                  <a:srgbClr val="2E7D32"/>
                </a:solidFill>
              </a:defRPr>
            </a:pPr>
            <a:r>
              <a:t>WHY DIFFERENT?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2556" y="1920240"/>
            <a:ext cx="3484778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  <a:latin typeface="Arial"/>
              </a:defRPr>
            </a:pPr>
            <a:r>
              <a:t>3D DIGITAL TWIN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Visual symptom &amp; pain localization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2556" y="3246120"/>
            <a:ext cx="3484778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  <a:latin typeface="Arial"/>
              </a:defRPr>
            </a:pPr>
            <a:r>
              <a:t>VOICE-FIRST HEALTHCARE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English/Hindi hands-free interaction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4572000"/>
            <a:ext cx="3484778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A192F"/>
                </a:solidFill>
                <a:latin typeface="Arial"/>
              </a:defRPr>
            </a:pPr>
            <a:r>
              <a:t>AFFORDABLE CARE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Jan Aushadhi generic alternatives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6400800"/>
            <a:ext cx="34847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AI assists. Doctor decides.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200" b="1">
                <a:solidFill>
                  <a:srgbClr val="0A192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1288"/>
            <a:ext cx="5633719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11002975" cy="868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1. PATIENT INPUT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Report Upload    |    Voice Interaction    |    3D Digital Twin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8687" y="2331720"/>
            <a:ext cx="274320" cy="22860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11002975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2. AI PROCESSING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SambaNova Vision AI → OCR / medical report extraction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Groq LLaMA → NLP / contextual analysis / specialist matching / recovery intelligence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3566160"/>
            <a:ext cx="274320" cy="22860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11002975" cy="868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3. CLINICAL LAYER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Doctor Dashboard → Review AI suggestions → Validate → Prescribe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58687" y="4663440"/>
            <a:ext cx="274320" cy="22860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4892040"/>
            <a:ext cx="11002975" cy="8686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2E7D32"/>
                </a:solidFill>
                <a:latin typeface="Arial"/>
              </a:defRPr>
            </a:pPr>
            <a:r>
              <a:t>4. PATIENT OUTPUT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Medication reminders    |    Diet guidance    |    Recovery tracking    |    Health-risk insights    |    Emergency 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035040"/>
            <a:ext cx="11002975" cy="36576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TECH STACK: Next.js 14 • React • Three.js • Framer Motion • Tailwind CSS • Groq API • LLaMA • SambaNova Vision • Web Speech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200" b="1">
                <a:solidFill>
                  <a:srgbClr val="0A192F"/>
                </a:solidFill>
                <a:latin typeface="Arial"/>
              </a:defRPr>
            </a:pPr>
            <a:r>
              <a:t>FEASIBILITY, RISKS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1288"/>
            <a:ext cx="6776719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484778" cy="402336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0897B"/>
                </a:solidFill>
                <a:latin typeface="Arial"/>
              </a:defRPr>
            </a:pPr>
            <a:r>
              <a:t>WHY FEASIBLE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MODULAR ARCHITECTURE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Cloud-based modular components allow independent development and scaling.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FAST AI INFERENCE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Groq and SambaNova APIs support responsive AI interactions.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ACCESSIBLE DEVICES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Web-based architecture can support low-end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3458" y="1463040"/>
            <a:ext cx="3484778" cy="402336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D32F2F"/>
                </a:solidFill>
                <a:latin typeface="Arial"/>
              </a:defRPr>
            </a:pPr>
            <a:r>
              <a:t>RISKS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REPORT QUALITY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Low-quality / handwritten reports can reduce OCR accuracy.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AI HALLUCINATION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Incorrect AI output could create safety risks.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MEDICAL PRIVACY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Patient data requires strong privacy and consent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2556" y="1463040"/>
            <a:ext cx="3484778" cy="40233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MITIGATION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HUMAN-IN-THE-LOOP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Doctor validates AI suggestions.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ZERO DIAGNOSIS POLICY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AI assists; it does not independently diagnose.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PRIVACY + CONSENT</a:t>
            </a:r>
          </a:p>
          <a:p>
            <a:pPr algn="l">
              <a:defRPr sz="1300">
                <a:solidFill>
                  <a:srgbClr val="323232"/>
                </a:solidFill>
                <a:latin typeface="Arial"/>
              </a:defRPr>
            </a:pPr>
            <a:r>
              <a:t>Use privacy-first architecture, explicit consent and appropriate DPDP/ABHA compliance considerations.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69279"/>
            <a:ext cx="11002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A192F"/>
                </a:solidFill>
              </a:defRPr>
            </a:pPr>
            <a:r>
              <a:t>AI + DOCTOR &gt; AI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200" b="1">
                <a:solidFill>
                  <a:srgbClr val="0A192F"/>
                </a:solidFill>
                <a:latin typeface="Arial"/>
              </a:defRPr>
            </a:pPr>
            <a:r>
              <a:t>END-TO-END IMPLEMENTATION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1288"/>
            <a:ext cx="888492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1981139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1 INPUT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Report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Voice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3D Twin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1219" y="320040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9819" y="2194560"/>
            <a:ext cx="1981139" cy="219456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2 UNDERSTANDING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SambaNova Vision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OCR + Extraction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Groq LLaMA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Context + 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76678" y="320040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05278" y="2194560"/>
            <a:ext cx="1981139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3 CLINICAL AI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Risk Insights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Specialist Matching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Recovery Planning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137" y="320040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737" y="2194560"/>
            <a:ext cx="1981139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4 VALIDATION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Doctor Dashboard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Validate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Prescribe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87596" y="320040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16196" y="2194560"/>
            <a:ext cx="1981139" cy="219456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2E7D32"/>
                </a:solidFill>
                <a:latin typeface="Arial"/>
              </a:defRPr>
            </a:pPr>
            <a:r>
              <a:t>5 PERSONALIZED CARE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Medication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Diet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Recovery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4480560"/>
            <a:ext cx="182880" cy="27432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8078" y="4846320"/>
            <a:ext cx="2895539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D32F2F"/>
                </a:solidFill>
                <a:latin typeface="Arial"/>
              </a:defRPr>
            </a:pPr>
            <a:r>
              <a:t>EMERGENCY SOS</a:t>
            </a:r>
          </a:p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Emergency detected → Ambulance Support + Family Notification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554480"/>
            <a:ext cx="2346899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★ 3D DIGITAL TWIN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539209" y="2011680"/>
            <a:ext cx="91440" cy="13716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7857" y="1554480"/>
            <a:ext cx="2346899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★ DOCTOR-CONTROLLED AI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305586" y="2011680"/>
            <a:ext cx="91440" cy="13716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33316" y="1554480"/>
            <a:ext cx="2346899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300">
                <a:solidFill>
                  <a:srgbClr val="323232"/>
                </a:solidFill>
                <a:latin typeface="Arial"/>
              </a:defRPr>
            </a:pPr>
            <a:r>
              <a:t>★ DYNAMIC RECOVERY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61045" y="2011680"/>
            <a:ext cx="91440" cy="13716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200" b="1">
                <a:solidFill>
                  <a:srgbClr val="0A192F"/>
                </a:solidFill>
                <a:latin typeface="Arial"/>
              </a:defRPr>
            </a:pPr>
            <a:r>
              <a:t>IMPACT, SCALABILITY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1288"/>
            <a:ext cx="755142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5318607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00897B"/>
                </a:solidFill>
                <a:latin typeface="Arial"/>
              </a:defRPr>
            </a:pPr>
            <a:r>
              <a:t>SOCIAL IMPACT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Better medication adherence.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Reduced healthcare anxiety.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More accessible healthcare interaction.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Support for elderly and chronic patients.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463040"/>
            <a:ext cx="5318607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ECONOMIC IMPACT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Affordable generic alternatives.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Potential reduction in avoidable hospital readmissions.</a:t>
            </a:r>
          </a:p>
          <a:p>
            <a:pPr algn="l" lvl="1">
              <a:defRPr sz="1300">
                <a:solidFill>
                  <a:srgbClr val="323232"/>
                </a:solidFill>
                <a:latin typeface="Arial"/>
              </a:defRPr>
            </a:pPr>
            <a:r>
              <a:t>• Lower friction in healthcare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A192F"/>
                </a:solidFill>
              </a:defRPr>
            </a:pPr>
            <a:r>
              <a:t>FUTURE 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31920"/>
            <a:ext cx="1907987" cy="7315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HealthSync AI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93787" y="420624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68107" y="3931920"/>
            <a:ext cx="1907987" cy="7315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Wearables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67534" y="420624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41854" y="3931920"/>
            <a:ext cx="1907987" cy="7315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Real-time Vitals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41281" y="420624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15601" y="3931920"/>
            <a:ext cx="1907987" cy="7315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Daily Health Score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5028" y="420624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9348" y="3931920"/>
            <a:ext cx="1907987" cy="731520"/>
          </a:xfrm>
          <a:prstGeom prst="roundRect">
            <a:avLst/>
          </a:prstGeom>
          <a:solidFill>
            <a:srgbClr val="E0F2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ctr">
              <a:defRPr sz="1400" b="1">
                <a:solidFill>
                  <a:srgbClr val="00897B"/>
                </a:solidFill>
                <a:latin typeface="Arial"/>
              </a:defRPr>
            </a:pPr>
            <a:r>
              <a:t>Preventive Healthcare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212080"/>
            <a:ext cx="1100297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RESEARCH / COMPLIANCE BASIS: MoHFW telemedicine guidance  |  Jan Aushadhi data  |  LLaMA / Vision-AI research  |  ABHA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Arial"/>
              </a:defRPr>
            </a:pPr>
            <a:r>
              <a:t>AFTER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23232"/>
                </a:solidFill>
                <a:latin typeface="Arial"/>
              </a:defRPr>
            </a:pPr>
            <a:r>
              <a:t>SIH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8293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