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/>
            </a:pPr>
            <a:r>
              <a:t>SMART INDIA HACKATHON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400"/>
            </a:pPr>
            <a:r>
              <a:t>Problem Statement ID: [Your PS ID]</a:t>
            </a:r>
          </a:p>
          <a:p>
            <a:pPr algn="ctr">
              <a:defRPr sz="1400"/>
            </a:pPr>
            <a:r>
              <a:t>Problem Statement Title: [Your PS Title]</a:t>
            </a:r>
          </a:p>
          <a:p>
            <a:pPr algn="ctr">
              <a:defRPr sz="1400"/>
            </a:pPr>
            <a:r>
              <a:t>Theme: MedTech / Healthcare</a:t>
            </a:r>
          </a:p>
          <a:p>
            <a:pPr algn="ctr">
              <a:defRPr sz="1400"/>
            </a:pPr>
            <a:r>
              <a:t>PS Category: Software</a:t>
            </a:r>
          </a:p>
          <a:p>
            <a:pPr algn="ctr">
              <a:defRPr sz="1400"/>
            </a:pPr>
            <a:r>
              <a:t>Team ID: [Your Team ID]</a:t>
            </a:r>
          </a:p>
          <a:p>
            <a:pPr algn="ctr">
              <a:defRPr sz="1400"/>
            </a:pPr>
            <a:r>
              <a:t>Team Name: [Your Team Name]</a:t>
            </a:r>
          </a:p>
          <a:p>
            <a:pPr algn="ctr">
              <a:defRPr sz="1400"/>
            </a:pPr>
            <a:r>
              <a:t>Team Leader Name: Priyanshu Shaurya (ENG25CS0665)</a:t>
            </a:r>
          </a:p>
          <a:p>
            <a:pPr algn="ctr">
              <a:defRPr sz="1400"/>
            </a:pPr>
            <a:r>
              <a:t>Team Members: Ankit Kumar (ENG25CS0396), Aditya Raj (ENG25AD0083)</a:t>
            </a:r>
          </a:p>
          <a:p>
            <a:pPr algn="ctr">
              <a:defRPr sz="1400"/>
            </a:pPr>
            <a:r>
              <a:t>School of Engineering, Dayananda Sagar University, Bengaluru - 562112.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TITLE &amp;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/>
            </a:pPr>
            <a:r>
              <a:t>IDEA TITLE: HealthSync AI-Assisted Recovery Journey System</a:t>
            </a:r>
          </a:p>
          <a:p>
            <a:pPr>
              <a:defRPr sz="1600" b="1"/>
            </a:pPr>
            <a:r>
              <a:t>Proposed Solution:</a:t>
            </a:r>
          </a:p>
          <a:p>
            <a:pPr lvl="1">
              <a:defRPr sz="1600"/>
            </a:pPr>
            <a:r>
              <a:t>HealthSync is an integrated healthcare platform empowering patients and clinicians.</a:t>
            </a:r>
          </a:p>
          <a:p>
            <a:pPr lvl="1">
              <a:defRPr sz="1600"/>
            </a:pPr>
            <a:r>
              <a:t>Problem Addressed: Medical reports are complex, finding specialists is hard, and medication non-adherence causes severe risks.</a:t>
            </a:r>
          </a:p>
          <a:p>
            <a:pPr lvl="1">
              <a:defRPr sz="1600"/>
            </a:pPr>
            <a:r>
              <a:t>Solution: AI-powered assistant that scans reports, analyzes conditions, recommends specialists, manages online consultations, and tracks recovery.</a:t>
            </a:r>
          </a:p>
          <a:p>
            <a:pPr>
              <a:defRPr sz="1600" b="1"/>
            </a:pPr>
            <a:r>
              <a:t>Innovation and Uniqueness:</a:t>
            </a:r>
          </a:p>
          <a:p>
            <a:pPr lvl="1">
              <a:defRPr sz="1600"/>
            </a:pPr>
            <a:r>
              <a:t>3D Digital Twin: An interactive 3D body model for patients to visually map symptoms and localized pain.</a:t>
            </a:r>
          </a:p>
          <a:p>
            <a:pPr lvl="1">
              <a:defRPr sz="1600"/>
            </a:pPr>
            <a:r>
              <a:t>Multi-lingual Voice Assistant: Hands-free voice interactions (English/Hindi) with Text-To-Speech for accessibility.</a:t>
            </a:r>
          </a:p>
          <a:p>
            <a:pPr lvl="1">
              <a:defRPr sz="1600"/>
            </a:pPr>
            <a:r>
              <a:t>Jan Aushadhi Integration: Recommends affordable generic medicine alternatives.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/>
            </a:pPr>
            <a:r>
              <a:t>Technologies to be Used:</a:t>
            </a:r>
          </a:p>
          <a:p>
            <a:pPr lvl="1">
              <a:defRPr sz="1600"/>
            </a:pPr>
            <a:r>
              <a:t>Frontend: Next.js 14, React, Three.js (3D Twin), Framer Motion, Tailwind CSS</a:t>
            </a:r>
          </a:p>
          <a:p>
            <a:pPr lvl="1">
              <a:defRPr sz="1600"/>
            </a:pPr>
            <a:r>
              <a:t>AI Models: Groq API (LLaMA-3 70B for fast NLP), SambaNova API (Llama-3.2 90B Vision for OCR/Reports)</a:t>
            </a:r>
          </a:p>
          <a:p>
            <a:pPr lvl="1">
              <a:defRPr sz="1600"/>
            </a:pPr>
            <a:r>
              <a:t>Voice/Accessibility: Web Speech API for real-time transcription and Text-to-Speech</a:t>
            </a:r>
          </a:p>
          <a:p>
            <a:pPr lvl="1">
              <a:defRPr sz="1600"/>
            </a:pPr>
            <a:r>
              <a:t>Backend/Architecture: Modular, cloud-based API Routes, Privacy-first design</a:t>
            </a:r>
          </a:p>
          <a:p>
            <a:pPr>
              <a:defRPr sz="1600" b="1"/>
            </a:pPr>
            <a:r>
              <a:t>Methodology and Implementation Process:</a:t>
            </a:r>
          </a:p>
          <a:p>
            <a:pPr lvl="1">
              <a:defRPr sz="1600"/>
            </a:pPr>
            <a:r>
              <a:t>Patients interact via the 3D avatar to report symptoms, or use the voice assistant to speak naturally.</a:t>
            </a:r>
          </a:p>
          <a:p>
            <a:pPr lvl="1">
              <a:defRPr sz="1600"/>
            </a:pPr>
            <a:r>
              <a:t>SambaNova Vision AI extracts data from uploaded medical reports and prescriptions.</a:t>
            </a:r>
          </a:p>
          <a:p>
            <a:pPr lvl="1">
              <a:defRPr sz="1600"/>
            </a:pPr>
            <a:r>
              <a:t>Groq LLaMA analyzes the data, assesses urgency, and generates a personalized recovery/diet plan.</a:t>
            </a:r>
          </a:p>
          <a:p>
            <a:pPr lvl="1">
              <a:defRPr sz="1600"/>
            </a:pPr>
            <a:r>
              <a:t>Integrated ASAP Emergency SOS (Ambulance booking, family notifications, nearest doctor alert).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/>
            </a:pPr>
            <a:r>
              <a:t>Analysis of Feasibility:</a:t>
            </a:r>
          </a:p>
          <a:p>
            <a:pPr lvl="1">
              <a:defRPr sz="1600"/>
            </a:pPr>
            <a:r>
              <a:t>MVP is highly feasible: Designed as a modular, cloud-based architecture optimized for real-world deployment.</a:t>
            </a:r>
          </a:p>
          <a:p>
            <a:pPr lvl="1">
              <a:defRPr sz="1600"/>
            </a:pPr>
            <a:r>
              <a:t>Fast API inference via Groq &amp; SambaNova ensures real-time patient assistance without heavy local computation.</a:t>
            </a:r>
          </a:p>
          <a:p>
            <a:pPr>
              <a:defRPr sz="1600" b="1"/>
            </a:pPr>
            <a:r>
              <a:t>Potential Challenges and Risks:</a:t>
            </a:r>
          </a:p>
          <a:p>
            <a:pPr lvl="1">
              <a:defRPr sz="1600"/>
            </a:pPr>
            <a:r>
              <a:t>Accurate extraction of medical data from low-quality report images.</a:t>
            </a:r>
          </a:p>
          <a:p>
            <a:pPr lvl="1">
              <a:defRPr sz="1600"/>
            </a:pPr>
            <a:r>
              <a:t>Preventing AI hallucinations or incorrect medical advice.</a:t>
            </a:r>
          </a:p>
          <a:p>
            <a:pPr>
              <a:defRPr sz="1600" b="1"/>
            </a:pPr>
            <a:r>
              <a:t>Strategies for Overcoming Challenges:</a:t>
            </a:r>
          </a:p>
          <a:p>
            <a:pPr lvl="1">
              <a:defRPr sz="1600"/>
            </a:pPr>
            <a:r>
              <a:t>Zero Diagnosis Policy: AI is restricted to 'assisting' and never diagnoses without a doctor’s validation.</a:t>
            </a:r>
          </a:p>
          <a:p>
            <a:pPr lvl="1">
              <a:defRPr sz="1600"/>
            </a:pPr>
            <a:r>
              <a:t>Strict prompt engineering with ethical boundaries, DPDP Act 2023 &amp; ABHA compliance.</a:t>
            </a:r>
          </a:p>
          <a:p>
            <a:pPr lvl="1">
              <a:defRPr sz="1600"/>
            </a:pPr>
            <a:r>
              <a:t>Explicit user consent before recording consultations.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/>
            </a:pPr>
            <a:r>
              <a:t>Architecture &amp; Technology Stack Workflow:</a:t>
            </a:r>
          </a:p>
          <a:p>
            <a:pPr lvl="1">
              <a:defRPr sz="1600"/>
            </a:pPr>
            <a:r>
              <a:t>Input Layer: User uploads report / interacts with 3D Twin / speaks to Voice Assistant.</a:t>
            </a:r>
          </a:p>
          <a:p>
            <a:pPr lvl="1">
              <a:defRPr sz="1600"/>
            </a:pPr>
            <a:r>
              <a:t>Processing Layer:</a:t>
            </a:r>
          </a:p>
          <a:p>
            <a:pPr>
              <a:defRPr sz="1600" b="1"/>
            </a:pPr>
            <a:r>
              <a:t>SambaNova Vision extracts OCR data &amp; flags abnormalities.</a:t>
            </a:r>
          </a:p>
          <a:p>
            <a:pPr>
              <a:defRPr sz="1600" b="1"/>
            </a:pPr>
            <a:r>
              <a:t>Groq LLaMA processes NLP &amp; matches patient to a specialist.</a:t>
            </a:r>
          </a:p>
          <a:p>
            <a:pPr>
              <a:defRPr sz="1600" b="1"/>
            </a:pPr>
            <a:r>
              <a:t>Doctor Dashboard validates AI suggestions and issues prescriptions.</a:t>
            </a:r>
          </a:p>
          <a:p>
            <a:pPr lvl="1">
              <a:defRPr sz="1600"/>
            </a:pPr>
            <a:r>
              <a:t>Output Layer: Medication reminders, personalized diet &amp; exercise plans, automated recovery tracking.</a:t>
            </a:r>
          </a:p>
          <a:p>
            <a:pPr>
              <a:defRPr sz="1600" b="1"/>
            </a:pPr>
            <a:r>
              <a:t>Highlighting Uniqueness:</a:t>
            </a:r>
          </a:p>
          <a:p>
            <a:pPr lvl="1">
              <a:defRPr sz="1600"/>
            </a:pPr>
            <a:r>
              <a:t>Autonomous yet doctor-controlled healthcare.</a:t>
            </a:r>
          </a:p>
          <a:p>
            <a:pPr lvl="1">
              <a:defRPr sz="1600"/>
            </a:pPr>
            <a:r>
              <a:t>Dynamic AI Health Risk Score and predictive recovery planning.</a:t>
            </a:r>
          </a:p>
          <a:p>
            <a:pPr lvl="1">
              <a:defRPr sz="1600"/>
            </a:pPr>
            <a:r>
              <a:t>Seamlessly bridging the digital divide for patients who cannot type (Voice Mode).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/>
            </a:pPr>
            <a:r>
              <a:t>Potential Impact on the Target Audience:</a:t>
            </a:r>
          </a:p>
          <a:p>
            <a:pPr lvl="1">
              <a:defRPr sz="1600"/>
            </a:pPr>
            <a:r>
              <a:t>Targets chronic patients, the elderly, and individuals seeking accessible, stress-free healthcare.</a:t>
            </a:r>
          </a:p>
          <a:p>
            <a:pPr>
              <a:defRPr sz="1600" b="1"/>
            </a:pPr>
            <a:r>
              <a:t>Benefits of the Solution:</a:t>
            </a:r>
          </a:p>
          <a:p>
            <a:pPr lvl="1">
              <a:defRPr sz="1600"/>
            </a:pPr>
            <a:r>
              <a:t>Social Impact: Improves medication adherence, reduces healthcare anxiety, and provides multilingual support.</a:t>
            </a:r>
          </a:p>
          <a:p>
            <a:pPr lvl="1">
              <a:defRPr sz="1600"/>
            </a:pPr>
            <a:r>
              <a:t>Economic Impact: Lowers costs through Jan Aushadhi generic recommendations; reduces hospital readmissions.</a:t>
            </a:r>
          </a:p>
          <a:p>
            <a:pPr>
              <a:defRPr sz="1600" b="1"/>
            </a:pPr>
            <a:r>
              <a:t>Future Scalability:</a:t>
            </a:r>
          </a:p>
          <a:p>
            <a:pPr lvl="1">
              <a:defRPr sz="1600"/>
            </a:pPr>
            <a:r>
              <a:t>Wearable device integration (Smartwatches) for real-time vitals monitoring (Heart rate, Sleep, SpO2).</a:t>
            </a:r>
          </a:p>
          <a:p>
            <a:pPr lvl="1">
              <a:defRPr sz="1600"/>
            </a:pPr>
            <a:r>
              <a:t>AI-based preventive healthcare generating a Daily Health Score to prevent diseases before they become serious.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